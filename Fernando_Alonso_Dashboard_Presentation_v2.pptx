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26"/>
    <p:sldId id="276" r:id="rId2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28"/>
    <p:sldId id="271" r:id="rId17"/>
    <p:sldId id="278" r:id="rId29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Raw vs cleaned counts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9AA3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DNFs</c:v>
                  </c:pt>
                  <c:pt idx="1">
                    <c:v>Podiums</c:v>
                  </c:pt>
                  <c:pt idx="2">
                    <c:v>Poles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99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Cleaned</c:v>
                </c:pt>
              </c:strCache>
            </c:strRef>
          </c:tx>
          <c:spPr>
            <a:solidFill>
              <a:srgbClr val="0B1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DNFs</c:v>
                  </c:pt>
                  <c:pt idx="1">
                    <c:v>Podiums</c:v>
                  </c:pt>
                  <c:pt idx="2">
                    <c:v>Poles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</c:v>
                </c:pt>
                <c:pt idx="1">
                  <c:v>106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Points by season (20xx)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0B12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01</c:v>
                  </c:pt>
                  <c:pt idx="1">
                    <c:v>03</c:v>
                  </c:pt>
                  <c:pt idx="2">
                    <c:v>04</c:v>
                  </c:pt>
                  <c:pt idx="3">
                    <c:v>05</c:v>
                  </c:pt>
                  <c:pt idx="4">
                    <c:v>06</c:v>
                  </c:pt>
                  <c:pt idx="5">
                    <c:v>07</c:v>
                  </c:pt>
                  <c:pt idx="6">
                    <c:v>08</c:v>
                  </c:pt>
                  <c:pt idx="7">
                    <c:v>09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13</c:v>
                  </c:pt>
                  <c:pt idx="12">
                    <c:v>14</c:v>
                  </c:pt>
                  <c:pt idx="13">
                    <c:v>15</c:v>
                  </c:pt>
                  <c:pt idx="14">
                    <c:v>16</c:v>
                  </c:pt>
                  <c:pt idx="15">
                    <c:v>17</c:v>
                  </c:pt>
                  <c:pt idx="16">
                    <c:v>18</c:v>
                  </c:pt>
                  <c:pt idx="17">
                    <c:v>21</c:v>
                  </c:pt>
                  <c:pt idx="18">
                    <c:v>22</c:v>
                  </c:pt>
                  <c:pt idx="19">
                    <c:v>23</c:v>
                  </c:pt>
                  <c:pt idx="20">
                    <c:v>24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55</c:v>
                </c:pt>
                <c:pt idx="2">
                  <c:v>57</c:v>
                </c:pt>
                <c:pt idx="3">
                  <c:v>132</c:v>
                </c:pt>
                <c:pt idx="4">
                  <c:v>138</c:v>
                </c:pt>
                <c:pt idx="5">
                  <c:v>108</c:v>
                </c:pt>
                <c:pt idx="6">
                  <c:v>60</c:v>
                </c:pt>
                <c:pt idx="7">
                  <c:v>25</c:v>
                </c:pt>
                <c:pt idx="8">
                  <c:v>254</c:v>
                </c:pt>
                <c:pt idx="9">
                  <c:v>256</c:v>
                </c:pt>
                <c:pt idx="10">
                  <c:v>279</c:v>
                </c:pt>
                <c:pt idx="11">
                  <c:v>242</c:v>
                </c:pt>
                <c:pt idx="12">
                  <c:v>161</c:v>
                </c:pt>
                <c:pt idx="13">
                  <c:v>11</c:v>
                </c:pt>
                <c:pt idx="14">
                  <c:v>54</c:v>
                </c:pt>
                <c:pt idx="15">
                  <c:v>18</c:v>
                </c:pt>
                <c:pt idx="16">
                  <c:v>50</c:v>
                </c:pt>
                <c:pt idx="17">
                  <c:v>80</c:v>
                </c:pt>
                <c:pt idx="18">
                  <c:v>80</c:v>
                </c:pt>
                <c:pt idx="19">
                  <c:v>206</c:v>
                </c:pt>
                <c:pt idx="20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Points per race by career phase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Pts/race</c:v>
                </c:pt>
              </c:strCache>
            </c:strRef>
          </c:tx>
          <c:spPr>
            <a:solidFill>
              <a:srgbClr val="0B122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122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Early 01-04</c:v>
                  </c:pt>
                  <c:pt idx="1">
                    <c:v>Renault 05-06</c:v>
                  </c:pt>
                  <c:pt idx="2">
                    <c:v>McL/Ren 07-09</c:v>
                  </c:pt>
                  <c:pt idx="3">
                    <c:v>Ferrari 10-14</c:v>
                  </c:pt>
                  <c:pt idx="4">
                    <c:v>McL-Honda 15-18</c:v>
                  </c:pt>
                  <c:pt idx="5">
                    <c:v>Alpine 21-22</c:v>
                  </c:pt>
                  <c:pt idx="6">
                    <c:v>Aston 23-24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2.11</c:v>
                </c:pt>
                <c:pt idx="1">
                  <c:v>7.3</c:v>
                </c:pt>
                <c:pt idx="2">
                  <c:v>3.71</c:v>
                </c:pt>
                <c:pt idx="3">
                  <c:v>12.42</c:v>
                </c:pt>
                <c:pt idx="4">
                  <c:v>1.64</c:v>
                </c:pt>
                <c:pt idx="5">
                  <c:v>3.64</c:v>
                </c:pt>
                <c:pt idx="6">
                  <c:v>4.76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Win and podium rate by grid slot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 (n=59)</c:v>
                  </c:pt>
                  <c:pt idx="1">
                    <c:v>P2-3 (n=37)</c:v>
                  </c:pt>
                  <c:pt idx="2">
                    <c:v>P4-5 (n=53)</c:v>
                  </c:pt>
                  <c:pt idx="3">
                    <c:v>P6-10 (n=118)</c:v>
                  </c:pt>
                  <c:pt idx="4">
                    <c:v>P11+ (n=142)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16</c:v>
                </c:pt>
                <c:pt idx="2">
                  <c:v>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Podium rate %</c:v>
                </c:pt>
              </c:strCache>
            </c:strRef>
          </c:tx>
          <c:spPr>
            <a:solidFill>
              <a:srgbClr val="D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P1 (n=59)</c:v>
                  </c:pt>
                  <c:pt idx="1">
                    <c:v>P2-3 (n=37)</c:v>
                  </c:pt>
                  <c:pt idx="2">
                    <c:v>P4-5 (n=53)</c:v>
                  </c:pt>
                  <c:pt idx="3">
                    <c:v>P6-10 (n=118)</c:v>
                  </c:pt>
                  <c:pt idx="4">
                    <c:v>P11+ (n=142)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88</c:v>
                </c:pt>
                <c:pt idx="1">
                  <c:v>65</c:v>
                </c:pt>
                <c:pt idx="2">
                  <c:v>47</c:v>
                </c:pt>
                <c:pt idx="3">
                  <c:v>4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Average positions gained by grid slot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Positions gained</c:v>
                </c:pt>
              </c:strCache>
            </c:strRef>
          </c:tx>
          <c:spPr>
            <a:solidFill>
              <a:srgbClr val="0E8F8F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P1-3</c:v>
                  </c:pt>
                  <c:pt idx="1">
                    <c:v>P4-6</c:v>
                  </c:pt>
                  <c:pt idx="2">
                    <c:v>P7-10</c:v>
                  </c:pt>
                  <c:pt idx="3">
                    <c:v>P11+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-1.24</c:v>
                </c:pt>
                <c:pt idx="1">
                  <c:v>0.64</c:v>
                </c:pt>
                <c:pt idx="2">
                  <c:v>0.31</c:v>
                </c:pt>
                <c:pt idx="3">
                  <c:v>1.01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Career retirements by cause (67)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DNFs</c:v>
                </c:pt>
              </c:strCache>
            </c:strRef>
          </c:tx>
          <c:spPr>
            <a:solidFill>
              <a:srgbClr val="DC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Collision</c:v>
                  </c:pt>
                  <c:pt idx="1">
                    <c:v>Hydraulics</c:v>
                  </c:pt>
                  <c:pt idx="2">
                    <c:v>Gearbox</c:v>
                  </c:pt>
                  <c:pt idx="3">
                    <c:v>Engine</c:v>
                  </c:pt>
                  <c:pt idx="4">
                    <c:v>Electrical</c:v>
                  </c:pt>
                  <c:pt idx="5">
                    <c:v>Suspension</c:v>
                  </c:pt>
                  <c:pt idx="6">
                    <c:v>Accident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13</c:v>
                </c:pt>
                <c:pt idx="2">
                  <c:v>10</c:v>
                </c:pt>
                <c:pt idx="3">
                  <c:v>9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Points per race: 6 strongest vs 6 weakest circuits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Pts/race</c:v>
                </c:pt>
              </c:strCache>
            </c:strRef>
          </c:tx>
          <c:spPr>
            <a:solidFill>
              <a:srgbClr val="0E8F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8F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C000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Barcelona</c:v>
                  </c:pt>
                  <c:pt idx="1">
                    <c:v>Losail</c:v>
                  </c:pt>
                  <c:pt idx="2">
                    <c:v>Istanbul</c:v>
                  </c:pt>
                  <c:pt idx="3">
                    <c:v>Magny-Cours</c:v>
                  </c:pt>
                  <c:pt idx="4">
                    <c:v>Montreal</c:v>
                  </c:pt>
                  <c:pt idx="5">
                    <c:v>Monaco</c:v>
                  </c:pt>
                  <c:pt idx="6">
                    <c:v>Albert Park</c:v>
                  </c:pt>
                  <c:pt idx="7">
                    <c:v>Sochi</c:v>
                  </c:pt>
                  <c:pt idx="8">
                    <c:v>Bahrain</c:v>
                  </c:pt>
                  <c:pt idx="9">
                    <c:v>Red Bull Ring</c:v>
                  </c:pt>
                  <c:pt idx="10">
                    <c:v>Marina Bay</c:v>
                  </c:pt>
                  <c:pt idx="11">
                    <c:v>Yas Marina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9.7</c:v>
                </c:pt>
                <c:pt idx="1">
                  <c:v>9.1</c:v>
                </c:pt>
                <c:pt idx="2">
                  <c:v>8.6</c:v>
                </c:pt>
                <c:pt idx="3">
                  <c:v>8.2</c:v>
                </c:pt>
                <c:pt idx="4">
                  <c:v>8.1</c:v>
                </c:pt>
                <c:pt idx="5">
                  <c:v>7.3</c:v>
                </c:pt>
                <c:pt idx="6">
                  <c:v>3.3</c:v>
                </c:pt>
                <c:pt idx="7">
                  <c:v>3.2</c:v>
                </c:pt>
                <c:pt idx="8">
                  <c:v>2.6</c:v>
                </c:pt>
                <c:pt idx="9">
                  <c:v>2.2</c:v>
                </c:pt>
                <c:pt idx="10">
                  <c:v>2.1</c:v>
                </c:pt>
                <c:pt idx="11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1220"/>
                </a:solidFill>
                <a:latin typeface="Calibri"/>
              </a:rPr>
              <a:t>Estimated points recoverable (scenario)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Points recoverable</c:v>
                </c:pt>
              </c:strCache>
            </c:strRef>
          </c:tx>
          <c:spPr>
            <a:solidFill>
              <a:srgbClr val="0B1220"/>
            </a:solidFill>
          </c:spPr>
          <c:dPt>
            <c:idx val="1"/>
            <c:spPr>
              <a:solidFill>
                <a:srgbClr val="DC0000"/>
              </a:solidFill>
            </c:spPr>
          </c:dPt>
          <c:cat>
            <c:strRef>
              <c:f>Sheet1!$A$2:$A$4</c:f>
              <c:strCache>
                <c:ptCount val="3"/>
                <c:pt idx="0">
                  <c:v>Reliability</c:v>
                </c:pt>
                <c:pt idx="1">
                  <c:v>Qualifying</c:v>
                </c:pt>
                <c:pt idx="2">
                  <c:v>Front-row conversion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framing. Client: driver management and the team performance group. They must decide where to invest (qualifying pace, race strategy, reliability) and which team or project to join. Without a trusted, cleaned view they cannot tell whether results come from the driver, the car, qualifying or reliability. Figures: Ferrari 12.4 pts/race vs McLaren-Honda 1.64; 67 retirements cost about 300 points; 260 starts from P6 or lower gave 0 wins and 5 podiums; P1-P3 starts lost 1.24 places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analysis is framed as a decision problem, not just a data exercise. Each finding later in the deck maps to one decision and one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Sizing method. Reliability: the report's own proxy (season-average points of finished races) puts retirements at ~300 points, 69% mechanical; halving mechanical DNFs recovers ~100. Qualifying: moving about 24 starts (1 in 5 of the 118 starts from P6-P10) into P4-P5 is worth about 8.5 points each (11.7 vs 3.2 points per race) = ~200. Front-row conversion: pole-to-win from 37% to 50% means about 8 more wins, worth only ~20 points over a P2 finish but large in headline terms. These overlap and are scenarios, not forecasts; the pole flag vs grid caveat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lever has one action, one KPI with a baseline and a target, and a sized impact. Start with qualifying (largest lever) and reliability (clearest evidence).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Alonso Career Analytics  |  Mrutyunjay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POWER BI  |  PYTHON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Alonso Career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seasons. 409 races. One dashboard.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insights and performance recommendations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Mrutyunjay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Portfolio Project  |  2 October 2026</a:t>
            </a:r>
            <a:endParaRPr lang="en-US" sz="1200" dirty="0"/>
          </a:p>
        </p:txBody>
      </p:sp>
      <p:sp>
        <p:nvSpPr>
          <p:cNvPr id="7" name="Stat panel"/>
          <p:cNvSpPr/>
          <p:nvPr/>
        </p:nvSpPr>
        <p:spPr>
          <a:xfrm>
            <a:off x="6126480" y="640080"/>
            <a:ext cx="2560320" cy="374904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868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analysed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64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wins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163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5570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points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Agenda row"/>
          <p:cNvSpPr/>
          <p:nvPr/>
        </p:nvSpPr>
        <p:spPr>
          <a:xfrm>
            <a:off x="457200" y="128016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94360" y="140817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94360" y="1408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problem, objective and questions</a:t>
            </a:r>
            <a:endParaRPr lang="en-US" sz="1500" dirty="0"/>
          </a:p>
        </p:txBody>
      </p:sp>
      <p:sp>
        <p:nvSpPr>
          <p:cNvPr id="7" name="Agenda row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23113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94360" y="22311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500" dirty="0"/>
          </a:p>
        </p:txBody>
      </p:sp>
      <p:sp>
        <p:nvSpPr>
          <p:cNvPr id="11" name="Agenda row"/>
          <p:cNvSpPr/>
          <p:nvPr/>
        </p:nvSpPr>
        <p:spPr>
          <a:xfrm>
            <a:off x="457200" y="292608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305409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4360" y="30540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26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data cleaning</a:t>
            </a:r>
            <a:endParaRPr lang="en-US" sz="1500" dirty="0"/>
          </a:p>
        </p:txBody>
      </p:sp>
      <p:sp>
        <p:nvSpPr>
          <p:cNvPr id="15" name="Agenda row"/>
          <p:cNvSpPr/>
          <p:nvPr/>
        </p:nvSpPr>
        <p:spPr>
          <a:xfrm>
            <a:off x="457200" y="374904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87705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94360" y="38770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</a:t>
            </a:r>
            <a:endParaRPr lang="en-US" sz="1500" dirty="0"/>
          </a:p>
        </p:txBody>
      </p:sp>
      <p:sp>
        <p:nvSpPr>
          <p:cNvPr id="19" name="Agenda row"/>
          <p:cNvSpPr/>
          <p:nvPr/>
        </p:nvSpPr>
        <p:spPr>
          <a:xfrm>
            <a:off x="4663440" y="128016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00600" y="1408176"/>
            <a:ext cx="429768" cy="429768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800600" y="1408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280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findings</a:t>
            </a:r>
            <a:endParaRPr lang="en-US" sz="1500" dirty="0"/>
          </a:p>
        </p:txBody>
      </p:sp>
      <p:sp>
        <p:nvSpPr>
          <p:cNvPr id="23" name="Agenda row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800600" y="223113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800600" y="22311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Solution, impact and roadmap</a:t>
            </a:r>
            <a:endParaRPr lang="en-US" sz="1500" dirty="0"/>
          </a:p>
        </p:txBody>
      </p:sp>
      <p:sp>
        <p:nvSpPr>
          <p:cNvPr id="27" name="Agenda row"/>
          <p:cNvSpPr/>
          <p:nvPr/>
        </p:nvSpPr>
        <p:spPr>
          <a:xfrm>
            <a:off x="4663440" y="292608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00600" y="305409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800600" y="30540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926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data caveats</a:t>
            </a:r>
            <a:endParaRPr lang="en-US" sz="1500" dirty="0"/>
          </a:p>
        </p:txBody>
      </p:sp>
      <p:sp>
        <p:nvSpPr>
          <p:cNvPr id="31" name="Agenda row"/>
          <p:cNvSpPr/>
          <p:nvPr/>
        </p:nvSpPr>
        <p:spPr>
          <a:xfrm>
            <a:off x="4663440" y="3749040"/>
            <a:ext cx="4023360" cy="6858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00600" y="3877056"/>
            <a:ext cx="429768" cy="42976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800600" y="38770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challenge: raw records hide the story</a:t>
            </a:r>
            <a:endParaRPr lang="en-US" sz="2800" dirty="0"/>
          </a:p>
        </p:txBody>
      </p:sp>
      <p:sp>
        <p:nvSpPr>
          <p:cNvPr id="3" name="Statement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21 seasons of messy, partly inconsistent records become trustworthy insight into where Alonso gained and lost performance?</a:t>
            </a:r>
            <a:endParaRPr lang="en-US" sz="1500" dirty="0"/>
          </a:p>
        </p:txBody>
      </p:sp>
      <p:sp>
        <p:nvSpPr>
          <p:cNvPr id="5" name="Stat card"/>
          <p:cNvSpPr/>
          <p:nvPr/>
        </p:nvSpPr>
        <p:spPr>
          <a:xfrm>
            <a:off x="45720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 recorded as "Finished", so DNFs showed 20, not 67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466344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vs 106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podiums in raw flags vs his known record (poles: 18 vs 22)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45720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/ 409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average-speed values missing; top and min speed missing everywhere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466344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fields for year, season label, points or team colour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guide the analysis</a:t>
            </a:r>
            <a:endParaRPr lang="en-US" sz="2800" dirty="0"/>
          </a:p>
        </p:txBody>
      </p:sp>
      <p:sp>
        <p:nvSpPr>
          <p:cNvPr id="3" name="Question row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61872"/>
            <a:ext cx="420624" cy="420624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results evolve across 21 seasons and 6 teams?</a:t>
            </a:r>
            <a:endParaRPr lang="en-US" sz="1500" dirty="0"/>
          </a:p>
        </p:txBody>
      </p:sp>
      <p:sp>
        <p:nvSpPr>
          <p:cNvPr id="7" name="Question row"/>
          <p:cNvSpPr/>
          <p:nvPr/>
        </p:nvSpPr>
        <p:spPr>
          <a:xfrm>
            <a:off x="457200" y="1874520"/>
            <a:ext cx="8229600" cy="566928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7672"/>
            <a:ext cx="420624" cy="420624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745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teams, circuit types and circuits suited him best and worst?</a:t>
            </a:r>
            <a:endParaRPr lang="en-US" sz="1500" dirty="0"/>
          </a:p>
        </p:txBody>
      </p:sp>
      <p:sp>
        <p:nvSpPr>
          <p:cNvPr id="11" name="Question row"/>
          <p:cNvSpPr/>
          <p:nvPr/>
        </p:nvSpPr>
        <p:spPr>
          <a:xfrm>
            <a:off x="457200" y="2560320"/>
            <a:ext cx="8229600" cy="566928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33472"/>
            <a:ext cx="420624" cy="420624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560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starting position decide the result, and how good is his race craft?</a:t>
            </a:r>
            <a:endParaRPr lang="en-US" sz="1500" dirty="0"/>
          </a:p>
        </p:txBody>
      </p:sp>
      <p:sp>
        <p:nvSpPr>
          <p:cNvPr id="15" name="Question row"/>
          <p:cNvSpPr/>
          <p:nvPr/>
        </p:nvSpPr>
        <p:spPr>
          <a:xfrm>
            <a:off x="457200" y="3246120"/>
            <a:ext cx="8229600" cy="566928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9272"/>
            <a:ext cx="420624" cy="420624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retirements cost, and what caused them?</a:t>
            </a:r>
            <a:endParaRPr lang="en-US" sz="1500" dirty="0"/>
          </a:p>
        </p:txBody>
      </p:sp>
      <p:sp>
        <p:nvSpPr>
          <p:cNvPr id="19" name="Question row"/>
          <p:cNvSpPr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5072"/>
            <a:ext cx="420624" cy="420624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31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he and his team focus on to improve?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overview: seven source files, 409 race records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Driver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Identity, nationality, career span, championships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Race Calendar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Race, season, round, date, circuit, laps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Race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Grid, finish, laps led, status, win/podium/pole/DNF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Team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Team, country, years active, brand colour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Circuit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Location, length, turns, street / high-speed flags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Career Milestones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Debut, first win, titles, team moves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Speed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Average, top and minimum speed per 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2001–2024 (21 raced)  |  Minardi, Renault, McLaren, Ferrari, Alpine, Aston Martin  |  7 raw + 7 cleaned CSVs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from raw CSVs to insight in five steps</a:t>
            </a:r>
            <a:endParaRPr lang="en-US" sz="2800" dirty="0"/>
          </a:p>
        </p:txBody>
      </p:sp>
      <p:sp>
        <p:nvSpPr>
          <p:cNvPr id="3" name="Step card"/>
          <p:cNvSpPr/>
          <p:nvPr/>
        </p:nvSpPr>
        <p:spPr>
          <a:xfrm>
            <a:off x="457200" y="1188720"/>
            <a:ext cx="1554480" cy="24231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tables on driver, races, teams, circuits, milestones, speed</a:t>
            </a:r>
            <a:endParaRPr lang="en-US" sz="1200" dirty="0"/>
          </a:p>
        </p:txBody>
      </p:sp>
      <p:sp>
        <p:nvSpPr>
          <p:cNvPr id="9" name="Step card"/>
          <p:cNvSpPr/>
          <p:nvPr/>
        </p:nvSpPr>
        <p:spPr>
          <a:xfrm>
            <a:off x="2121408" y="1188720"/>
            <a:ext cx="1554480" cy="24231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58568" y="132588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856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status and flags, added helper columns, filled speed fields</a:t>
            </a:r>
            <a:endParaRPr lang="en-US" sz="1200" dirty="0"/>
          </a:p>
        </p:txBody>
      </p:sp>
      <p:sp>
        <p:nvSpPr>
          <p:cNvPr id="15" name="Step card"/>
          <p:cNvSpPr/>
          <p:nvPr/>
        </p:nvSpPr>
        <p:spPr>
          <a:xfrm>
            <a:off x="3785616" y="1188720"/>
            <a:ext cx="1554480" cy="24231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22776" y="132588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2776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Star-style model: results joined to calendar, circuits, teams, speed</a:t>
            </a:r>
            <a:endParaRPr lang="en-US" sz="1200" dirty="0"/>
          </a:p>
        </p:txBody>
      </p:sp>
      <p:sp>
        <p:nvSpPr>
          <p:cNvPr id="21" name="Step card"/>
          <p:cNvSpPr/>
          <p:nvPr/>
        </p:nvSpPr>
        <p:spPr>
          <a:xfrm>
            <a:off x="5449824" y="1188720"/>
            <a:ext cx="1554480" cy="24231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86984" y="1325880"/>
            <a:ext cx="411480" cy="41148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86984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8698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86984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586984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dashboard: 10 KPI cards, 7 charts, table, gauge, 3 slicers</a:t>
            </a:r>
            <a:endParaRPr lang="en-US" sz="1200" dirty="0"/>
          </a:p>
        </p:txBody>
      </p:sp>
      <p:sp>
        <p:nvSpPr>
          <p:cNvPr id="27" name="Step card"/>
          <p:cNvSpPr/>
          <p:nvPr/>
        </p:nvSpPr>
        <p:spPr>
          <a:xfrm>
            <a:off x="7114032" y="1188720"/>
            <a:ext cx="1554480" cy="24231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1192" y="1325880"/>
            <a:ext cx="411480" cy="411480"/>
          </a:xfrm>
          <a:prstGeom prst="ellipse">
            <a:avLst/>
          </a:prstGeom>
          <a:solidFill>
            <a:srgbClr val="DC0000"/>
          </a:solidFill>
          <a:ln w="12700">
            <a:solidFill>
              <a:srgbClr val="DC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51192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25119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51192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51192" y="24688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Re-computed every KPI and added deeper cuts</a:t>
            </a:r>
            <a:endParaRPr lang="en-US" sz="1200" dirty="0"/>
          </a:p>
        </p:txBody>
      </p:sp>
      <p:sp>
        <p:nvSpPr>
          <p:cNvPr id="33" name="Validation banner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no duplicates  |  identical row counts raw vs clean  |  32 wins and 106 podiums reconcile  |  all 409 results join to calendar, circuit and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more than tripled the DNF rate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486400" y="1188720"/>
            <a:ext cx="32004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→ 16.4%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rate, raw vs cleaned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486400" y="2331720"/>
            <a:ext cx="32004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rows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898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 from "Finished" to a retirement reason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486400" y="3474720"/>
            <a:ext cx="3200400" cy="109728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→ 106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podiums; poles 18 → 22, now matching the career record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dashboard: 10 KPIs, 7 charts, 3 slicers</a:t>
            </a:r>
            <a:endParaRPr lang="en-US" sz="2800" dirty="0"/>
          </a:p>
        </p:txBody>
      </p:sp>
      <p:sp>
        <p:nvSpPr>
          <p:cNvPr id="3" name="KPI card"/>
          <p:cNvSpPr/>
          <p:nvPr/>
        </p:nvSpPr>
        <p:spPr>
          <a:xfrm>
            <a:off x="457200" y="118872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races</a:t>
            </a:r>
            <a:endParaRPr lang="en-US" sz="1200" dirty="0"/>
          </a:p>
        </p:txBody>
      </p:sp>
      <p:sp>
        <p:nvSpPr>
          <p:cNvPr id="6" name="KPI card"/>
          <p:cNvSpPr/>
          <p:nvPr/>
        </p:nvSpPr>
        <p:spPr>
          <a:xfrm>
            <a:off x="2121408" y="118872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2848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200" dirty="0"/>
          </a:p>
        </p:txBody>
      </p:sp>
      <p:sp>
        <p:nvSpPr>
          <p:cNvPr id="9" name="KPI card"/>
          <p:cNvSpPr/>
          <p:nvPr/>
        </p:nvSpPr>
        <p:spPr>
          <a:xfrm>
            <a:off x="3785616" y="118872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77056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877056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Podiums</a:t>
            </a:r>
            <a:endParaRPr lang="en-US" sz="1200" dirty="0"/>
          </a:p>
        </p:txBody>
      </p:sp>
      <p:sp>
        <p:nvSpPr>
          <p:cNvPr id="12" name="KPI card"/>
          <p:cNvSpPr/>
          <p:nvPr/>
        </p:nvSpPr>
        <p:spPr>
          <a:xfrm>
            <a:off x="5449824" y="118872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1264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41264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positions</a:t>
            </a:r>
            <a:endParaRPr lang="en-US" sz="1200" dirty="0"/>
          </a:p>
        </p:txBody>
      </p:sp>
      <p:sp>
        <p:nvSpPr>
          <p:cNvPr id="15" name="KPI card"/>
          <p:cNvSpPr/>
          <p:nvPr/>
        </p:nvSpPr>
        <p:spPr>
          <a:xfrm>
            <a:off x="7114032" y="118872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05472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205472" y="1810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laps</a:t>
            </a:r>
            <a:endParaRPr lang="en-US" sz="1200" dirty="0"/>
          </a:p>
        </p:txBody>
      </p:sp>
      <p:sp>
        <p:nvSpPr>
          <p:cNvPr id="18" name="KPI card"/>
          <p:cNvSpPr/>
          <p:nvPr/>
        </p:nvSpPr>
        <p:spPr>
          <a:xfrm>
            <a:off x="457200" y="237744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Championships</a:t>
            </a:r>
            <a:endParaRPr lang="en-US" sz="1200" dirty="0"/>
          </a:p>
        </p:txBody>
      </p:sp>
      <p:sp>
        <p:nvSpPr>
          <p:cNvPr id="21" name="KPI card"/>
          <p:cNvSpPr/>
          <p:nvPr/>
        </p:nvSpPr>
        <p:spPr>
          <a:xfrm>
            <a:off x="2121408" y="237744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12848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2,279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2212848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points</a:t>
            </a:r>
            <a:endParaRPr lang="en-US" sz="1200" dirty="0"/>
          </a:p>
        </p:txBody>
      </p:sp>
      <p:sp>
        <p:nvSpPr>
          <p:cNvPr id="24" name="KPI card"/>
          <p:cNvSpPr/>
          <p:nvPr/>
        </p:nvSpPr>
        <p:spPr>
          <a:xfrm>
            <a:off x="3785616" y="237744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7056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3877056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race</a:t>
            </a:r>
            <a:endParaRPr lang="en-US" sz="1200" dirty="0"/>
          </a:p>
        </p:txBody>
      </p:sp>
      <p:sp>
        <p:nvSpPr>
          <p:cNvPr id="27" name="KPI card"/>
          <p:cNvSpPr/>
          <p:nvPr/>
        </p:nvSpPr>
        <p:spPr>
          <a:xfrm>
            <a:off x="5449824" y="2377440"/>
            <a:ext cx="1554480" cy="10515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41264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541264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DNFs (16.4% rate)</a:t>
            </a:r>
            <a:endParaRPr lang="en-US" sz="1200" dirty="0"/>
          </a:p>
        </p:txBody>
      </p:sp>
      <p:sp>
        <p:nvSpPr>
          <p:cNvPr id="30" name="KPI card"/>
          <p:cNvSpPr/>
          <p:nvPr/>
        </p:nvSpPr>
        <p:spPr>
          <a:xfrm>
            <a:off x="7114032" y="2377440"/>
            <a:ext cx="155448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05472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top speed km/h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combo chart, wins and points by team, finishing-position breakdown, speed trend, circuit-type bars, season table, DNF gauge.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Circuit Type, Team. Dark racing theme with real team colours.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career peaks follow the car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 2012, his best season (Ferrari)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title year, 2005 and 2006 (Renault)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podiums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McLaren-Honda, 2015–18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team choice matters more than anything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vs 2.5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race, Ferrari vs McLaren, on a similar number of starts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wins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Renault, the team of both titles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McLaren DNF rate, highest of the long spells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qualifying almost fixes the result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grid and finishing position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of 32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came from the first four grid slots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 when starting P11 or lower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front-row starts leak positions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lost on average from P1–P3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of 89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front-row starts finished behind the grid slot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gained from P11+, strong race craft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5: reliability cost about 300 points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pts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lost, about 13% of his career total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retirements were mechanical (46 of 67)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rate in McLaren-Honda, 2015–18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6: some circuits are consistent weak spots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pts/race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circuits, the weakest type, with 22.1% DNF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pts/race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circuits, his best type, with 14.4% DNF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13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Bull Ring retirements; Bahrain 4 in 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7: a 2023 rebound, then a 2024 slump</a:t>
            </a:r>
            <a:endParaRPr lang="en-US" sz="2800" dirty="0"/>
          </a:p>
        </p:txBody>
      </p:sp>
      <p:sp>
        <p:nvSpPr>
          <p:cNvPr id="3" name="Season card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 |  Aston Martin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finish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1200" dirty="0"/>
          </a:p>
        </p:txBody>
      </p:sp>
      <p:sp>
        <p:nvSpPr>
          <p:cNvPr id="13" name="Season card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|  Aston Martin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grid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</a:t>
            </a:r>
            <a:endParaRPr lang="en-US" sz="1200" dirty="0"/>
          </a:p>
        </p:txBody>
      </p:sp>
      <p:sp>
        <p:nvSpPr>
          <p:cNvPr id="23" name="Takeaway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driver, very different results: the swing points to car competitiveness and qualifying, not racecraft. His +0.52 positions gained in 2023–24 is among the best of any phase.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seven recommendations</a:t>
            </a:r>
            <a:endParaRPr lang="en-US" sz="2800" dirty="0"/>
          </a:p>
        </p:txBody>
      </p:sp>
      <p:sp>
        <p:nvSpPr>
          <p:cNvPr id="3" name="Recommendation card"/>
          <p:cNvSpPr/>
          <p:nvPr/>
        </p:nvSpPr>
        <p:spPr>
          <a:xfrm>
            <a:off x="457200" y="118872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Raise qualifying output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top-6 qualifying KPI and treat one-lap pace and set-up as a separate work-stream.</a:t>
            </a:r>
            <a:endParaRPr lang="en-US" sz="1200" dirty="0"/>
          </a:p>
        </p:txBody>
      </p:sp>
      <p:sp>
        <p:nvSpPr>
          <p:cNvPr id="6" name="Recommendation card"/>
          <p:cNvSpPr/>
          <p:nvPr/>
        </p:nvSpPr>
        <p:spPr>
          <a:xfrm>
            <a:off x="3246120" y="118872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Convert front-row starts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first stint and strategy from P1–P3; track pole-to-win conversion as a headline metric.</a:t>
            </a:r>
            <a:endParaRPr lang="en-US" sz="1200" dirty="0"/>
          </a:p>
        </p:txBody>
      </p:sp>
      <p:sp>
        <p:nvSpPr>
          <p:cNvPr id="9" name="Recommendation card"/>
          <p:cNvSpPr/>
          <p:nvPr/>
        </p:nvSpPr>
        <p:spPr>
          <a:xfrm>
            <a:off x="6035040" y="118872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Prioritise reliability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002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DNF history as a team-selection criterion; manage components when a finish beats a gamble.</a:t>
            </a:r>
            <a:endParaRPr lang="en-US" sz="1200" dirty="0"/>
          </a:p>
        </p:txBody>
      </p:sp>
      <p:sp>
        <p:nvSpPr>
          <p:cNvPr id="12" name="Recommendation card"/>
          <p:cNvSpPr/>
          <p:nvPr/>
        </p:nvSpPr>
        <p:spPr>
          <a:xfrm>
            <a:off x="457200" y="269748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Cut avoidable incidents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108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top 10, run a lower-risk opening lap: no podium came from there, so protect points.</a:t>
            </a:r>
            <a:endParaRPr lang="en-US" sz="1200" dirty="0"/>
          </a:p>
        </p:txBody>
      </p:sp>
      <p:sp>
        <p:nvSpPr>
          <p:cNvPr id="15" name="Recommendation card"/>
          <p:cNvSpPr/>
          <p:nvPr/>
        </p:nvSpPr>
        <p:spPr>
          <a:xfrm>
            <a:off x="3246120" y="269748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Choose the platform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08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moves around regulation changes and proven car pace; avoid long deals with weak projects.</a:t>
            </a:r>
            <a:endParaRPr lang="en-US" sz="1200" dirty="0"/>
          </a:p>
        </p:txBody>
      </p:sp>
      <p:sp>
        <p:nvSpPr>
          <p:cNvPr id="18" name="Recommendation card"/>
          <p:cNvSpPr/>
          <p:nvPr/>
        </p:nvSpPr>
        <p:spPr>
          <a:xfrm>
            <a:off x="6035040" y="2697480"/>
            <a:ext cx="2651760" cy="141732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Prep for weak circuits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1089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dossiers for the six weakest tracks, with extra simulator and data review before each.</a:t>
            </a:r>
            <a:endParaRPr lang="en-US" sz="1200" dirty="0"/>
          </a:p>
        </p:txBody>
      </p:sp>
      <p:sp>
        <p:nvSpPr>
          <p:cNvPr id="21" name="Strength banner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Protect strengths: keep the overtaking and strategy craft (+1.01 places from P11+) and feed it better grid slots.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 to track improvement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1945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2023–24 (Aston Martin)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grid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is 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per 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is 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is 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finish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is 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 from grid P1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1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is better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 Martin cut its DNF rate to 8.7%, but qualifying (9.8 average grid) remains the biggest gap to the Renault title years (3.4).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what the data cannot prove</a:t>
            </a:r>
            <a:endParaRPr lang="en-US" sz="2800" dirty="0"/>
          </a:p>
        </p:txBody>
      </p:sp>
      <p:sp>
        <p:nvSpPr>
          <p:cNvPr id="3" name="Limitation card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data is estimated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of 409 average speeds and all top and minimum speeds were estimated; use as context only.</a:t>
            </a:r>
            <a:endParaRPr lang="en-US" sz="1200" dirty="0"/>
          </a:p>
        </p:txBody>
      </p:sp>
      <p:sp>
        <p:nvSpPr>
          <p:cNvPr id="6" name="Limitation card"/>
          <p:cNvSpPr/>
          <p:nvPr/>
        </p:nvSpPr>
        <p:spPr>
          <a:xfrm>
            <a:off x="3246120" y="118872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flag vs grid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P1 appears in 59 races but only 22 carry the pole flag; resolve at source.</a:t>
            </a:r>
            <a:endParaRPr lang="en-US" sz="1200" dirty="0"/>
          </a:p>
        </p:txBody>
      </p:sp>
      <p:sp>
        <p:nvSpPr>
          <p:cNvPr id="9" name="Limitation card"/>
          <p:cNvSpPr/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chronology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Circuit-season pairings do not match real history; read circuit findings as indicative.</a:t>
            </a:r>
            <a:endParaRPr lang="en-US" sz="1200" dirty="0"/>
          </a:p>
        </p:txBody>
      </p:sp>
      <p:sp>
        <p:nvSpPr>
          <p:cNvPr id="12" name="Limitation card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9–17 starts per circuit; one bad weekend moves an average.</a:t>
            </a:r>
            <a:endParaRPr lang="en-US" sz="1200" dirty="0"/>
          </a:p>
        </p:txBody>
      </p:sp>
      <p:sp>
        <p:nvSpPr>
          <p:cNvPr id="15" name="Limitation card"/>
          <p:cNvSpPr/>
          <p:nvPr/>
        </p:nvSpPr>
        <p:spPr>
          <a:xfrm>
            <a:off x="3246120" y="292608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vs driver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cause; teammate data is needed to separate driver from machine.</a:t>
            </a:r>
            <a:endParaRPr lang="en-US" sz="1200" dirty="0"/>
          </a:p>
        </p:txBody>
      </p:sp>
      <p:sp>
        <p:nvSpPr>
          <p:cNvPr id="18" name="Limitation card"/>
          <p:cNvSpPr/>
          <p:nvPr/>
        </p:nvSpPr>
        <p:spPr>
          <a:xfrm>
            <a:off x="6035040" y="2926080"/>
            <a:ext cx="2651760" cy="160020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Proxies and eras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300-point loss is a proxy; scoring changed over time, so rates are used across eras.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qualify higher, convert front rows, avoid retirements</a:t>
            </a:r>
            <a:endParaRPr lang="en-US" sz="2800" dirty="0"/>
          </a:p>
        </p:txBody>
      </p:sp>
      <p:sp>
        <p:nvSpPr>
          <p:cNvPr id="3" name="Lever card"/>
          <p:cNvSpPr/>
          <p:nvPr/>
        </p:nvSpPr>
        <p:spPr>
          <a:xfrm>
            <a:off x="548640" y="1371600"/>
            <a:ext cx="260604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and finish correlation: Saturday pace is the top lever</a:t>
            </a:r>
            <a:endParaRPr lang="en-US" sz="1200" dirty="0"/>
          </a:p>
        </p:txBody>
      </p:sp>
      <p:sp>
        <p:nvSpPr>
          <p:cNvPr id="6" name="Lever card"/>
          <p:cNvSpPr/>
          <p:nvPr/>
        </p:nvSpPr>
        <p:spPr>
          <a:xfrm>
            <a:off x="3291840" y="1371600"/>
            <a:ext cx="260604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lost from P1–P3: convert front-row starts</a:t>
            </a:r>
            <a:endParaRPr lang="en-US" sz="1200" dirty="0"/>
          </a:p>
        </p:txBody>
      </p:sp>
      <p:sp>
        <p:nvSpPr>
          <p:cNvPr id="9" name="Lever card"/>
          <p:cNvSpPr/>
          <p:nvPr/>
        </p:nvSpPr>
        <p:spPr>
          <a:xfrm>
            <a:off x="6035040" y="1371600"/>
            <a:ext cx="2606040" cy="123444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lost to retirements: protect reliability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the dashboard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Career Phase slicer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Grid vs Finish scatter and Positions Gained bar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DNF by Cause stacked bar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Data Notes panel on estimates and flags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teammate comparison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labels: Career Span 23 → 21 seasons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results swing, causes are hidden</a:t>
            </a:r>
            <a:endParaRPr lang="en-US" sz="2800" dirty="0"/>
          </a:p>
        </p:txBody>
      </p:sp>
      <p:sp>
        <p:nvSpPr>
          <p:cNvPr id="3" name="Statement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swing from 12.4 to 1.6 points per race across career phases, yet decision-makers have no trusted view of where points are lost or which fix pays most.</a:t>
            </a:r>
            <a:endParaRPr lang="en-US" sz="1500" dirty="0"/>
          </a:p>
        </p:txBody>
      </p:sp>
      <p:sp>
        <p:nvSpPr>
          <p:cNvPr id="5" name="Stat card"/>
          <p:cNvSpPr/>
          <p:nvPr/>
        </p:nvSpPr>
        <p:spPr>
          <a:xfrm>
            <a:off x="45720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vs 1.6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race, best vs worst career phase (Ferrari vs McLaren-Honda)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466344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pts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67 retirements, 13% of his career total; raw data showed only 20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45720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wins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260 starts outside the top five; only 5 podiums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466344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lost on average from P1-P3; 49 of 89 starts ended behind the grid slot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find and size the levers</a:t>
            </a:r>
            <a:endParaRPr lang="en-US" sz="2800" dirty="0"/>
          </a:p>
        </p:txBody>
      </p:sp>
      <p:sp>
        <p:nvSpPr>
          <p:cNvPr id="3" name="Statement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find the largest recoverable performance levers, size them in points, and set KPI targets that can be tracked on one dashboard.</a:t>
            </a:r>
            <a:endParaRPr lang="en-US" sz="1500" dirty="0"/>
          </a:p>
        </p:txBody>
      </p:sp>
      <p:sp>
        <p:nvSpPr>
          <p:cNvPr id="5" name="Stat card"/>
          <p:cNvSpPr/>
          <p:nvPr/>
        </p:nvSpPr>
        <p:spPr>
          <a:xfrm>
            <a:off x="45720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 and the team performance group, backed by one dashboard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4663440" y="219456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at stake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moves, qualifying and strategy investment, reliability priorities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45720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race, top-5 starts, pole-to-win rate, DNF rate, top-10 rate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4663440" y="3383280"/>
            <a:ext cx="4023360" cy="105156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950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model, Power BI dashboard, sized recommendations, KPI targets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three levers, sized in points</a:t>
            </a:r>
            <a:endParaRPr lang="en-US" sz="2800" dirty="0"/>
          </a:p>
        </p:txBody>
      </p:sp>
      <p:sp>
        <p:nvSpPr>
          <p:cNvPr id="4" name="Stat card"/>
          <p:cNvSpPr/>
          <p:nvPr/>
        </p:nvSpPr>
        <p:spPr>
          <a:xfrm>
            <a:off x="5943600" y="118872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~320 pts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55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about +14%; levers overlap, so an upper bound</a:t>
            </a:r>
            <a:endParaRPr lang="en-US" sz="1200" dirty="0"/>
          </a:p>
        </p:txBody>
      </p:sp>
      <p:sp>
        <p:nvSpPr>
          <p:cNvPr id="7" name="Stat card"/>
          <p:cNvSpPr/>
          <p:nvPr/>
        </p:nvSpPr>
        <p:spPr>
          <a:xfrm>
            <a:off x="5943600" y="237744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wins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pole-to-win rate rose from 37% to 50% (59 P1 starts)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5943600" y="3566160"/>
            <a:ext cx="2743200" cy="1005840"/>
          </a:xfrm>
          <a:prstGeom prst="rect">
            <a:avLst/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pts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halving the 46 mechanical retirements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188720"/>
          <a:ext cx="53035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4498848"/>
            <a:ext cx="7589520" cy="228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Calibri"/>
              </a:rPr>
              <a:t>Scenarios: qualifying = 1 in 5 starts from P6-10 moved to P4-5; front-row conversion = about 20 pts.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actions, KPIs and targets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20116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KPI: baseline to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one-lap pace and set-up work-stream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in top 5: 36% to 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Front-row conversion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first stint and strategy from P1-P3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Pole-to-win rate: 37% to 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 wins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record as team-selection criterion; component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rate: 16.4% to 11% or less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Lower-risk opening lap when qualifying outside the top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DNF rate from P11+: 37% 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slicer, grid-vs-finish scatter, DNF by cause, Data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label and flag issues: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 b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are scenarios from the cleaned dataset. Levers overlap, so impacts are not additive; the P1 grid vs pole-flag caveat applies.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Fernando Alonso Career Analytics</dc:title>
  <dc:subject>PptxGenJS Presentation</dc:subject>
  <dc:creator>Mrutyunjay</dc:creator>
  <cp:lastModifiedBy>Mrutyunjay</cp:lastModifiedBy>
  <cp:revision>1</cp:revision>
  <dcterms:created xsi:type="dcterms:W3CDTF">2026-10-06T05:20:36Z</dcterms:created>
  <dcterms:modified xsi:type="dcterms:W3CDTF">2026-10-06T05:20:36Z</dcterms:modified>
</cp:coreProperties>
</file>